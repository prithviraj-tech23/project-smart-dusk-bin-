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59" r:id="rId6"/>
    <p:sldId id="260" r:id="rId7"/>
    <p:sldId id="265" r:id="rId8"/>
    <p:sldId id="261" r:id="rId9"/>
    <p:sldId id="262"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DE18"/>
    <a:srgbClr val="6ADF41"/>
    <a:srgbClr val="73B8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24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A3C2EBE-17E5-4178-B207-B593FB34D24B}"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1724348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3C2EBE-17E5-4178-B207-B593FB34D24B}"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964665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A3C2EBE-17E5-4178-B207-B593FB34D24B}"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2126668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3C2EBE-17E5-4178-B207-B593FB34D24B}" type="datetimeFigureOut">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1336523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A3C2EBE-17E5-4178-B207-B593FB34D24B}" type="datetimeFigureOut">
              <a:rPr lang="en-US" smtClean="0"/>
              <a:t>1/31/2025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1600181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A3C2EBE-17E5-4178-B207-B593FB34D24B}" type="datetimeFigureOut">
              <a:rPr lang="en-US" smtClean="0"/>
              <a:t>1/31/2025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1311578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3C2EBE-17E5-4178-B207-B593FB34D24B}" type="datetimeFigureOut">
              <a:rPr lang="en-US" smtClean="0"/>
              <a:t>1/31/2025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4271547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A3C2EBE-17E5-4178-B207-B593FB34D24B}" type="datetimeFigureOut">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31552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A3C2EBE-17E5-4178-B207-B593FB34D24B}" type="datetimeFigureOut">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959048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3C2EBE-17E5-4178-B207-B593FB34D24B}"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3071784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3C2EBE-17E5-4178-B207-B593FB34D24B}"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179CE-E532-4BBC-B975-F8E36912EE95}" type="slidenum">
              <a:rPr lang="en-US" smtClean="0"/>
              <a:t>‹#›</a:t>
            </a:fld>
            <a:endParaRPr lang="en-US"/>
          </a:p>
        </p:txBody>
      </p:sp>
    </p:spTree>
    <p:extLst>
      <p:ext uri="{BB962C8B-B14F-4D97-AF65-F5344CB8AC3E}">
        <p14:creationId xmlns:p14="http://schemas.microsoft.com/office/powerpoint/2010/main" val="685819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C2EBE-17E5-4178-B207-B593FB34D24B}" type="datetimeFigureOut">
              <a:rPr lang="en-US" smtClean="0"/>
              <a:t>1/31/2025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179CE-E532-4BBC-B975-F8E36912EE95}" type="slidenum">
              <a:rPr lang="en-US" smtClean="0"/>
              <a:t>‹#›</a:t>
            </a:fld>
            <a:endParaRPr lang="en-US"/>
          </a:p>
        </p:txBody>
      </p:sp>
    </p:spTree>
    <p:extLst>
      <p:ext uri="{BB962C8B-B14F-4D97-AF65-F5344CB8AC3E}">
        <p14:creationId xmlns:p14="http://schemas.microsoft.com/office/powerpoint/2010/main" val="2248875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narVert">
          <a:fgClr>
            <a:srgbClr val="92D050"/>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235167" y="1420020"/>
            <a:ext cx="7160986" cy="1920080"/>
          </a:xfrm>
        </p:spPr>
        <p:txBody>
          <a:bodyPr>
            <a:normAutofit/>
          </a:bodyPr>
          <a:lstStyle/>
          <a:p>
            <a:r>
              <a:rPr lang="en-US" dirty="0">
                <a:latin typeface="Bahnschrift Condensed" panose="020B0502040204020203" pitchFamily="34" charset="0"/>
              </a:rPr>
              <a:t>SMART WASTE MANAGEMENT SYSTEM USING IOT</a:t>
            </a:r>
          </a:p>
        </p:txBody>
      </p:sp>
      <p:sp>
        <p:nvSpPr>
          <p:cNvPr id="3" name="Subtitle 2"/>
          <p:cNvSpPr>
            <a:spLocks noGrp="1"/>
          </p:cNvSpPr>
          <p:nvPr>
            <p:ph type="subTitle" idx="1"/>
          </p:nvPr>
        </p:nvSpPr>
        <p:spPr>
          <a:xfrm>
            <a:off x="893253" y="4013200"/>
            <a:ext cx="10706100" cy="2959100"/>
          </a:xfrm>
        </p:spPr>
        <p:txBody>
          <a:bodyPr/>
          <a:lstStyle/>
          <a:p>
            <a:r>
              <a:rPr lang="en-US" dirty="0">
                <a:latin typeface="Bahnschrift SemiBold" panose="020B0502040204020203" pitchFamily="34" charset="0"/>
              </a:rPr>
              <a:t>Problem Statement: Waste collection services are often inefficient, with trucks following predetermined routes regardless of whether bins are full or not. This results in unnecessary trips, wasted resources, and missed opportunities for recycling. How might we develop an IoT-based waste collection system that uses smart bins to monitor waste levels and dynamically adjust collection routes based on real-time data?</a:t>
            </a:r>
          </a:p>
        </p:txBody>
      </p:sp>
      <p:pic>
        <p:nvPicPr>
          <p:cNvPr id="6" name="Picture 5"/>
          <p:cNvPicPr>
            <a:picLocks noChangeAspect="1"/>
          </p:cNvPicPr>
          <p:nvPr/>
        </p:nvPicPr>
        <p:blipFill>
          <a:blip r:embed="rId2"/>
          <a:stretch>
            <a:fillRect/>
          </a:stretch>
        </p:blipFill>
        <p:spPr>
          <a:xfrm>
            <a:off x="1573609" y="1420020"/>
            <a:ext cx="2389981" cy="2389981"/>
          </a:xfrm>
          <a:prstGeom prst="rect">
            <a:avLst/>
          </a:prstGeom>
        </p:spPr>
      </p:pic>
    </p:spTree>
    <p:extLst>
      <p:ext uri="{BB962C8B-B14F-4D97-AF65-F5344CB8AC3E}">
        <p14:creationId xmlns:p14="http://schemas.microsoft.com/office/powerpoint/2010/main" val="105302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narVert">
          <a:fgClr>
            <a:schemeClr val="accent6">
              <a:lumMod val="50000"/>
            </a:schemeClr>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ahnschrift SemiBold" panose="020B0502040204020203" pitchFamily="34" charset="0"/>
              </a:rPr>
              <a:t>What have we come up with ?</a:t>
            </a:r>
          </a:p>
        </p:txBody>
      </p:sp>
      <p:sp>
        <p:nvSpPr>
          <p:cNvPr id="3" name="Content Placeholder 2"/>
          <p:cNvSpPr>
            <a:spLocks noGrp="1"/>
          </p:cNvSpPr>
          <p:nvPr>
            <p:ph idx="1"/>
          </p:nvPr>
        </p:nvSpPr>
        <p:spPr>
          <a:xfrm>
            <a:off x="749300" y="1838940"/>
            <a:ext cx="5549900" cy="4864099"/>
          </a:xfrm>
        </p:spPr>
        <p:txBody>
          <a:bodyPr>
            <a:normAutofit/>
          </a:bodyPr>
          <a:lstStyle/>
          <a:p>
            <a:r>
              <a:rPr lang="en-US" sz="2400" dirty="0">
                <a:latin typeface="Bahnschrift SemiBold" panose="020B0502040204020203" pitchFamily="34" charset="0"/>
              </a:rPr>
              <a:t>Our Smart Waste Management System aims to enhance waste collection processes through real-time monitoring and data-driven decision-making.</a:t>
            </a:r>
          </a:p>
          <a:p>
            <a:r>
              <a:rPr lang="en-US" sz="2400" dirty="0">
                <a:latin typeface="Bahnschrift SemiBold" panose="020B0502040204020203" pitchFamily="34" charset="0"/>
              </a:rPr>
              <a:t> By integrating sensors into waste bins, we can measure fill levels and transmit this information to a cloud platform. </a:t>
            </a:r>
          </a:p>
          <a:p>
            <a:r>
              <a:rPr lang="en-US" sz="2400" dirty="0">
                <a:latin typeface="Bahnschrift SemiBold" panose="020B0502040204020203" pitchFamily="34" charset="0"/>
              </a:rPr>
              <a:t>This enables waste collectors to optimize collection schedules, ensuring bins are emptied before they overflow.</a:t>
            </a:r>
          </a:p>
        </p:txBody>
      </p:sp>
      <p:pic>
        <p:nvPicPr>
          <p:cNvPr id="4" name="Picture 3"/>
          <p:cNvPicPr>
            <a:picLocks noChangeAspect="1"/>
          </p:cNvPicPr>
          <p:nvPr/>
        </p:nvPicPr>
        <p:blipFill rotWithShape="1">
          <a:blip r:embed="rId2"/>
          <a:srcRect l="7452" t="-171" r="51707" b="1091"/>
          <a:stretch/>
        </p:blipFill>
        <p:spPr>
          <a:xfrm>
            <a:off x="6654800" y="1838940"/>
            <a:ext cx="4151553" cy="3850660"/>
          </a:xfrm>
          <a:prstGeom prst="rect">
            <a:avLst/>
          </a:prstGeom>
        </p:spPr>
      </p:pic>
    </p:spTree>
    <p:extLst>
      <p:ext uri="{BB962C8B-B14F-4D97-AF65-F5344CB8AC3E}">
        <p14:creationId xmlns:p14="http://schemas.microsoft.com/office/powerpoint/2010/main" val="373213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narVert">
          <a:fgClr>
            <a:srgbClr val="00B050"/>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0677" y="784938"/>
            <a:ext cx="10515600" cy="1325563"/>
          </a:xfrm>
        </p:spPr>
        <p:txBody>
          <a:bodyPr/>
          <a:lstStyle/>
          <a:p>
            <a:r>
              <a:rPr lang="en-US" dirty="0">
                <a:latin typeface="Bahnschrift SemiBold" panose="020B0502040204020203" pitchFamily="34" charset="0"/>
              </a:rPr>
              <a:t>OUR DESIGN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97521" y="995509"/>
            <a:ext cx="4748982" cy="241782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7521" y="3757897"/>
            <a:ext cx="4748982" cy="2417821"/>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677" y="2945566"/>
            <a:ext cx="6344529" cy="3230152"/>
          </a:xfrm>
          <a:prstGeom prst="rect">
            <a:avLst/>
          </a:prstGeom>
        </p:spPr>
      </p:pic>
    </p:spTree>
    <p:extLst>
      <p:ext uri="{BB962C8B-B14F-4D97-AF65-F5344CB8AC3E}">
        <p14:creationId xmlns:p14="http://schemas.microsoft.com/office/powerpoint/2010/main" val="1856225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narVert">
          <a:fgClr>
            <a:srgbClr val="00B050"/>
          </a:fgClr>
          <a:bgClr>
            <a:schemeClr val="bg1"/>
          </a:bgClr>
        </a:pattFill>
        <a:effectLst/>
      </p:bgPr>
    </p:bg>
    <p:spTree>
      <p:nvGrpSpPr>
        <p:cNvPr id="1" name="">
          <a:extLst>
            <a:ext uri="{FF2B5EF4-FFF2-40B4-BE49-F238E27FC236}">
              <a16:creationId xmlns:a16="http://schemas.microsoft.com/office/drawing/2014/main" id="{621DD7DF-2D4D-47CB-3977-E158ED178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C409B-9524-3ACB-1E55-9B3BACE198CF}"/>
              </a:ext>
            </a:extLst>
          </p:cNvPr>
          <p:cNvSpPr>
            <a:spLocks noGrp="1"/>
          </p:cNvSpPr>
          <p:nvPr>
            <p:ph type="title"/>
          </p:nvPr>
        </p:nvSpPr>
        <p:spPr>
          <a:xfrm>
            <a:off x="140677" y="784938"/>
            <a:ext cx="10515600" cy="1325563"/>
          </a:xfrm>
        </p:spPr>
        <p:txBody>
          <a:bodyPr/>
          <a:lstStyle/>
          <a:p>
            <a:r>
              <a:rPr lang="en-US" dirty="0">
                <a:latin typeface="Bahnschrift SemiBold" panose="020B0502040204020203" pitchFamily="34" charset="0"/>
              </a:rPr>
              <a:t>PROPOSED SYSTEM</a:t>
            </a:r>
          </a:p>
        </p:txBody>
      </p:sp>
      <p:sp>
        <p:nvSpPr>
          <p:cNvPr id="3" name="TextBox 2">
            <a:extLst>
              <a:ext uri="{FF2B5EF4-FFF2-40B4-BE49-F238E27FC236}">
                <a16:creationId xmlns:a16="http://schemas.microsoft.com/office/drawing/2014/main" id="{5164B47D-94D4-2170-1ECB-C62D28A93541}"/>
              </a:ext>
            </a:extLst>
          </p:cNvPr>
          <p:cNvSpPr txBox="1"/>
          <p:nvPr/>
        </p:nvSpPr>
        <p:spPr>
          <a:xfrm>
            <a:off x="601884" y="2110501"/>
            <a:ext cx="11215868" cy="4834016"/>
          </a:xfrm>
          <a:prstGeom prst="rect">
            <a:avLst/>
          </a:prstGeom>
          <a:noFill/>
        </p:spPr>
        <p:txBody>
          <a:bodyPr wrap="square" rtlCol="0">
            <a:spAutoFit/>
          </a:bodyPr>
          <a:lstStyle/>
          <a:p>
            <a:pPr marL="342900" lvl="0" indent="-342900" algn="l">
              <a:lnSpc>
                <a:spcPct val="107000"/>
              </a:lnSpc>
              <a:spcAft>
                <a:spcPts val="800"/>
              </a:spcAft>
              <a:buSzPts val="1000"/>
              <a:buFont typeface="Symbol" panose="05050102010706020507" pitchFamily="18" charset="2"/>
              <a:buChar char=""/>
              <a:tabLst>
                <a:tab pos="457200" algn="l"/>
              </a:tabLst>
            </a:pPr>
            <a:r>
              <a:rPr lang="en-US" sz="2400" dirty="0">
                <a:effectLst/>
                <a:latin typeface="Bahnschrift SemiBold" panose="020B0502040204020203" pitchFamily="34" charset="0"/>
                <a:ea typeface="SimSun" panose="02010600030101010101" pitchFamily="2" charset="-122"/>
              </a:rPr>
              <a:t>Smart Bin: Equipped with ultrasonic and infrared sensors to detect the bin’s fill level and ensure the lid closes automatically during rain or inactivity.</a:t>
            </a:r>
            <a:endParaRPr lang="en-IN" sz="2400" dirty="0">
              <a:effectLst/>
              <a:latin typeface="Bahnschrift SemiBold" panose="020B0502040204020203" pitchFamily="34" charset="0"/>
              <a:ea typeface="SimSun" panose="02010600030101010101" pitchFamily="2" charset="-122"/>
            </a:endParaRPr>
          </a:p>
          <a:p>
            <a:pPr marL="342900" lvl="0" indent="-342900" algn="l">
              <a:lnSpc>
                <a:spcPct val="107000"/>
              </a:lnSpc>
              <a:spcAft>
                <a:spcPts val="800"/>
              </a:spcAft>
              <a:buSzPts val="1000"/>
              <a:buFont typeface="Symbol" panose="05050102010706020507" pitchFamily="18" charset="2"/>
              <a:buChar char=""/>
              <a:tabLst>
                <a:tab pos="457200" algn="l"/>
              </a:tabLst>
            </a:pPr>
            <a:r>
              <a:rPr lang="en-US" sz="2400" dirty="0">
                <a:effectLst/>
                <a:latin typeface="Bahnschrift SemiBold" panose="020B0502040204020203" pitchFamily="34" charset="0"/>
                <a:ea typeface="SimSun" panose="02010600030101010101" pitchFamily="2" charset="-122"/>
              </a:rPr>
              <a:t>Communication Module: A SIM808 GSM module sends SMS notifications to waste collectors, eliminating the need for continuous monitoring.</a:t>
            </a:r>
            <a:endParaRPr lang="en-IN" sz="2400" dirty="0">
              <a:effectLst/>
              <a:latin typeface="Bahnschrift SemiBold" panose="020B0502040204020203" pitchFamily="34" charset="0"/>
              <a:ea typeface="SimSun" panose="02010600030101010101" pitchFamily="2" charset="-122"/>
            </a:endParaRPr>
          </a:p>
          <a:p>
            <a:pPr marL="342900" lvl="0" indent="-342900" algn="l">
              <a:lnSpc>
                <a:spcPct val="107000"/>
              </a:lnSpc>
              <a:spcAft>
                <a:spcPts val="800"/>
              </a:spcAft>
              <a:buSzPts val="1000"/>
              <a:buFont typeface="Symbol" panose="05050102010706020507" pitchFamily="18" charset="2"/>
              <a:buChar char=""/>
              <a:tabLst>
                <a:tab pos="457200" algn="l"/>
              </a:tabLst>
            </a:pPr>
            <a:r>
              <a:rPr lang="en-US" sz="2400" dirty="0">
                <a:effectLst/>
                <a:latin typeface="Bahnschrift SemiBold" panose="020B0502040204020203" pitchFamily="34" charset="0"/>
                <a:ea typeface="SimSun" panose="02010600030101010101" pitchFamily="2" charset="-122"/>
              </a:rPr>
              <a:t>GPS Integration: Allows real-time tracking of bin locations and aids in optimizing collection routes.</a:t>
            </a:r>
            <a:endParaRPr lang="en-IN" sz="2400" dirty="0">
              <a:effectLst/>
              <a:latin typeface="Bahnschrift SemiBold" panose="020B0502040204020203" pitchFamily="34" charset="0"/>
              <a:ea typeface="SimSun" panose="02010600030101010101" pitchFamily="2" charset="-122"/>
            </a:endParaRPr>
          </a:p>
          <a:p>
            <a:pPr marL="342900" lvl="0" indent="-342900" algn="l">
              <a:lnSpc>
                <a:spcPct val="107000"/>
              </a:lnSpc>
              <a:spcAft>
                <a:spcPts val="800"/>
              </a:spcAft>
              <a:buSzPts val="1000"/>
              <a:buFont typeface="Symbol" panose="05050102010706020507" pitchFamily="18" charset="2"/>
              <a:buChar char=""/>
              <a:tabLst>
                <a:tab pos="457200" algn="l"/>
              </a:tabLst>
            </a:pPr>
            <a:r>
              <a:rPr lang="en-US" sz="2400" dirty="0">
                <a:effectLst/>
                <a:latin typeface="Bahnschrift SemiBold" panose="020B0502040204020203" pitchFamily="34" charset="0"/>
                <a:ea typeface="SimSun" panose="02010600030101010101" pitchFamily="2" charset="-122"/>
              </a:rPr>
              <a:t>Solar Power: Utilizes energy from streetlights, ensuring sustainability and reduced dependency on external power sources.</a:t>
            </a:r>
            <a:endParaRPr lang="en-IN" sz="2400" dirty="0">
              <a:effectLst/>
              <a:latin typeface="Bahnschrift SemiBold" panose="020B0502040204020203" pitchFamily="34" charset="0"/>
              <a:ea typeface="SimSun" panose="02010600030101010101" pitchFamily="2" charset="-122"/>
            </a:endParaRPr>
          </a:p>
          <a:p>
            <a:pPr marL="342900" lvl="0" indent="-342900" algn="l">
              <a:lnSpc>
                <a:spcPct val="107000"/>
              </a:lnSpc>
              <a:spcAft>
                <a:spcPts val="800"/>
              </a:spcAft>
              <a:buSzPts val="1000"/>
              <a:buFont typeface="Symbol" panose="05050102010706020507" pitchFamily="18" charset="2"/>
              <a:buChar char=""/>
              <a:tabLst>
                <a:tab pos="457200" algn="l"/>
              </a:tabLst>
            </a:pPr>
            <a:r>
              <a:rPr lang="en-US" sz="2400" dirty="0">
                <a:effectLst/>
                <a:latin typeface="Bahnschrift SemiBold" panose="020B0502040204020203" pitchFamily="34" charset="0"/>
                <a:ea typeface="SimSun" panose="02010600030101010101" pitchFamily="2" charset="-122"/>
              </a:rPr>
              <a:t>AI-Powered Software: Processes sensor data to predict fill times and optimize waste collection schedules and routes.</a:t>
            </a:r>
            <a:endParaRPr lang="en-IN" sz="2400" dirty="0">
              <a:effectLst/>
              <a:latin typeface="Bahnschrift SemiBold" panose="020B0502040204020203" pitchFamily="34" charset="0"/>
              <a:ea typeface="SimSun" panose="02010600030101010101" pitchFamily="2" charset="-122"/>
            </a:endParaRPr>
          </a:p>
          <a:p>
            <a:endParaRPr lang="en-IN" dirty="0">
              <a:latin typeface="Bahnschrift SemiBold" panose="020B0502040204020203" pitchFamily="34" charset="0"/>
            </a:endParaRPr>
          </a:p>
        </p:txBody>
      </p:sp>
    </p:spTree>
    <p:extLst>
      <p:ext uri="{BB962C8B-B14F-4D97-AF65-F5344CB8AC3E}">
        <p14:creationId xmlns:p14="http://schemas.microsoft.com/office/powerpoint/2010/main" val="3295849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narVert">
          <a:fgClr>
            <a:srgbClr val="6ADF4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Bahnschrift SemiBold" panose="020B0502040204020203" pitchFamily="34" charset="0"/>
              </a:rPr>
              <a:t>CIRCUIT DIAGRAM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5167" y="1379450"/>
            <a:ext cx="8595359" cy="5361037"/>
          </a:xfrm>
        </p:spPr>
      </p:pic>
    </p:spTree>
    <p:extLst>
      <p:ext uri="{BB962C8B-B14F-4D97-AF65-F5344CB8AC3E}">
        <p14:creationId xmlns:p14="http://schemas.microsoft.com/office/powerpoint/2010/main" val="3311909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narVert">
          <a:fgClr>
            <a:schemeClr val="accent6">
              <a:lumMod val="60000"/>
              <a:lumOff val="40000"/>
            </a:schemeClr>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ahnschrift SemiBold" panose="020B0502040204020203" pitchFamily="34" charset="0"/>
              </a:rPr>
              <a:t>COST ESTIMATION </a:t>
            </a:r>
          </a:p>
        </p:txBody>
      </p:sp>
      <p:sp>
        <p:nvSpPr>
          <p:cNvPr id="3" name="Content Placeholder 2"/>
          <p:cNvSpPr>
            <a:spLocks noGrp="1"/>
          </p:cNvSpPr>
          <p:nvPr>
            <p:ph idx="1"/>
          </p:nvPr>
        </p:nvSpPr>
        <p:spPr>
          <a:xfrm>
            <a:off x="707524" y="1690688"/>
            <a:ext cx="10515600" cy="4351338"/>
          </a:xfrm>
        </p:spPr>
        <p:txBody>
          <a:bodyPr/>
          <a:lstStyle/>
          <a:p>
            <a:r>
              <a:rPr lang="en-US" dirty="0"/>
              <a:t>Arduino UNO board -₹ 3000 </a:t>
            </a:r>
          </a:p>
          <a:p>
            <a:r>
              <a:rPr lang="en-US" dirty="0"/>
              <a:t>Infra red Sensor- ₹ 30 </a:t>
            </a:r>
          </a:p>
          <a:p>
            <a:r>
              <a:rPr lang="en-US" dirty="0"/>
              <a:t>Ultra Sonic Sensor-₹ 150</a:t>
            </a:r>
          </a:p>
          <a:p>
            <a:r>
              <a:rPr lang="en-US" dirty="0"/>
              <a:t>Button- ₹ 20</a:t>
            </a:r>
          </a:p>
          <a:p>
            <a:r>
              <a:rPr lang="en-US" dirty="0"/>
              <a:t>GPS – ₹ 400</a:t>
            </a:r>
          </a:p>
          <a:p>
            <a:r>
              <a:rPr lang="en-US" dirty="0"/>
              <a:t>Lora WAN-₹ 3000</a:t>
            </a:r>
          </a:p>
          <a:p>
            <a:endParaRPr lang="en-US" dirty="0"/>
          </a:p>
          <a:p>
            <a:r>
              <a:rPr lang="en-US" dirty="0"/>
              <a:t>Which brings to a sum of ~7000 approx.</a:t>
            </a:r>
          </a:p>
          <a:p>
            <a:endParaRPr lang="en-US" dirty="0"/>
          </a:p>
          <a:p>
            <a:endParaRPr lang="en-US" dirty="0"/>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6127032" y="640928"/>
            <a:ext cx="2709552" cy="1354777"/>
          </a:xfrm>
          <a:prstGeom prst="rect">
            <a:avLst/>
          </a:prstGeom>
        </p:spPr>
      </p:pic>
      <p:pic>
        <p:nvPicPr>
          <p:cNvPr id="5" name="Picture 4"/>
          <p:cNvPicPr>
            <a:picLocks noChangeAspect="1"/>
          </p:cNvPicPr>
          <p:nvPr/>
        </p:nvPicPr>
        <p:blipFill>
          <a:blip r:embed="rId3"/>
          <a:stretch>
            <a:fillRect/>
          </a:stretch>
        </p:blipFill>
        <p:spPr>
          <a:xfrm>
            <a:off x="9358458" y="2457297"/>
            <a:ext cx="1604511" cy="1604511"/>
          </a:xfrm>
          <a:prstGeom prst="rect">
            <a:avLst/>
          </a:prstGeom>
        </p:spPr>
      </p:pic>
      <p:pic>
        <p:nvPicPr>
          <p:cNvPr id="6" name="Picture 5"/>
          <p:cNvPicPr>
            <a:picLocks noChangeAspect="1"/>
          </p:cNvPicPr>
          <p:nvPr/>
        </p:nvPicPr>
        <p:blipFill>
          <a:blip r:embed="rId4"/>
          <a:stretch>
            <a:fillRect/>
          </a:stretch>
        </p:blipFill>
        <p:spPr>
          <a:xfrm>
            <a:off x="9194207" y="257028"/>
            <a:ext cx="1995342" cy="1995342"/>
          </a:xfrm>
          <a:prstGeom prst="rect">
            <a:avLst/>
          </a:prstGeom>
        </p:spPr>
      </p:pic>
      <p:pic>
        <p:nvPicPr>
          <p:cNvPr id="7" name="Picture 6"/>
          <p:cNvPicPr>
            <a:picLocks noChangeAspect="1"/>
          </p:cNvPicPr>
          <p:nvPr/>
        </p:nvPicPr>
        <p:blipFill rotWithShape="1">
          <a:blip r:embed="rId5"/>
          <a:srcRect b="7834"/>
          <a:stretch/>
        </p:blipFill>
        <p:spPr>
          <a:xfrm>
            <a:off x="6127031" y="2118288"/>
            <a:ext cx="2939879" cy="1935420"/>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98698" y="4213874"/>
            <a:ext cx="3457431" cy="2499122"/>
          </a:xfrm>
          <a:prstGeom prst="rect">
            <a:avLst/>
          </a:prstGeom>
        </p:spPr>
      </p:pic>
    </p:spTree>
    <p:extLst>
      <p:ext uri="{BB962C8B-B14F-4D97-AF65-F5344CB8AC3E}">
        <p14:creationId xmlns:p14="http://schemas.microsoft.com/office/powerpoint/2010/main" val="3625814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narVert">
          <a:fgClr>
            <a:schemeClr val="accent6">
              <a:lumMod val="60000"/>
              <a:lumOff val="40000"/>
            </a:schemeClr>
          </a:fgClr>
          <a:bgClr>
            <a:schemeClr val="bg1"/>
          </a:bgClr>
        </a:pattFill>
        <a:effectLst/>
      </p:bgPr>
    </p:bg>
    <p:spTree>
      <p:nvGrpSpPr>
        <p:cNvPr id="1" name="">
          <a:extLst>
            <a:ext uri="{FF2B5EF4-FFF2-40B4-BE49-F238E27FC236}">
              <a16:creationId xmlns:a16="http://schemas.microsoft.com/office/drawing/2014/main" id="{1A15473F-52BF-FFF2-10F5-E9DD10598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5204D-09F9-E7EF-8077-C7A58152792E}"/>
              </a:ext>
            </a:extLst>
          </p:cNvPr>
          <p:cNvSpPr>
            <a:spLocks noGrp="1"/>
          </p:cNvSpPr>
          <p:nvPr>
            <p:ph type="title"/>
          </p:nvPr>
        </p:nvSpPr>
        <p:spPr/>
        <p:txBody>
          <a:bodyPr>
            <a:normAutofit/>
          </a:bodyPr>
          <a:lstStyle/>
          <a:p>
            <a:r>
              <a:rPr lang="en-IN" b="1" kern="0" dirty="0">
                <a:effectLst/>
                <a:latin typeface="Bahnschrift SemiBold" panose="020B0502040204020203" pitchFamily="34" charset="0"/>
                <a:ea typeface="SimSun" panose="02010600030101010101" pitchFamily="2" charset="-122"/>
              </a:rPr>
              <a:t>Software Integration</a:t>
            </a:r>
            <a:endParaRPr lang="en-US" dirty="0">
              <a:latin typeface="Bahnschrift SemiBold" panose="020B0502040204020203" pitchFamily="34" charset="0"/>
            </a:endParaRPr>
          </a:p>
        </p:txBody>
      </p:sp>
      <p:sp>
        <p:nvSpPr>
          <p:cNvPr id="3" name="Content Placeholder 2">
            <a:extLst>
              <a:ext uri="{FF2B5EF4-FFF2-40B4-BE49-F238E27FC236}">
                <a16:creationId xmlns:a16="http://schemas.microsoft.com/office/drawing/2014/main" id="{F805CE7E-4514-954C-1EEE-ED9DB1495B96}"/>
              </a:ext>
            </a:extLst>
          </p:cNvPr>
          <p:cNvSpPr>
            <a:spLocks noGrp="1"/>
          </p:cNvSpPr>
          <p:nvPr>
            <p:ph idx="1"/>
          </p:nvPr>
        </p:nvSpPr>
        <p:spPr>
          <a:xfrm>
            <a:off x="707524" y="1690688"/>
            <a:ext cx="10515600" cy="4351338"/>
          </a:xfrm>
        </p:spPr>
        <p:txBody>
          <a:bodyPr>
            <a:normAutofit/>
          </a:bodyPr>
          <a:lstStyle/>
          <a:p>
            <a:r>
              <a:rPr lang="en-IN" kern="0" dirty="0">
                <a:effectLst/>
                <a:latin typeface="Times New Roman" panose="02020603050405020304" pitchFamily="18" charset="0"/>
                <a:ea typeface="SimSun" panose="02010600030101010101" pitchFamily="2" charset="-122"/>
              </a:rPr>
              <a:t>User Dashboard</a:t>
            </a:r>
          </a:p>
          <a:p>
            <a:r>
              <a:rPr lang="en-IN" kern="0" dirty="0">
                <a:effectLst/>
                <a:latin typeface="Times New Roman" panose="02020603050405020304" pitchFamily="18" charset="0"/>
                <a:ea typeface="SimSun" panose="02010600030101010101" pitchFamily="2" charset="-122"/>
              </a:rPr>
              <a:t>Route Optimization Engine</a:t>
            </a:r>
            <a:endParaRPr lang="en-IN" kern="0" dirty="0">
              <a:latin typeface="Times New Roman" panose="02020603050405020304" pitchFamily="18" charset="0"/>
              <a:ea typeface="SimSun" panose="02010600030101010101" pitchFamily="2" charset="-122"/>
            </a:endParaRPr>
          </a:p>
          <a:p>
            <a:r>
              <a:rPr lang="en-IN" kern="0" dirty="0">
                <a:effectLst/>
                <a:latin typeface="Times New Roman" panose="02020603050405020304" pitchFamily="18" charset="0"/>
                <a:ea typeface="SimSun" panose="02010600030101010101" pitchFamily="2" charset="-122"/>
              </a:rPr>
              <a:t>Predictive Analytics</a:t>
            </a:r>
          </a:p>
          <a:p>
            <a:r>
              <a:rPr lang="en-IN" kern="0" dirty="0">
                <a:effectLst/>
                <a:latin typeface="Times New Roman" panose="02020603050405020304" pitchFamily="18" charset="0"/>
                <a:ea typeface="SimSun" panose="02010600030101010101" pitchFamily="2" charset="-122"/>
              </a:rPr>
              <a:t>Mobile Interface</a:t>
            </a:r>
            <a:endParaRPr lang="en-IN" kern="0" dirty="0">
              <a:latin typeface="Times New Roman" panose="02020603050405020304" pitchFamily="18" charset="0"/>
              <a:ea typeface="SimSun" panose="02010600030101010101" pitchFamily="2" charset="-122"/>
            </a:endParaRPr>
          </a:p>
          <a:p>
            <a:r>
              <a:rPr lang="en-IN" kern="0" dirty="0">
                <a:effectLst/>
                <a:latin typeface="Times New Roman" panose="02020603050405020304" pitchFamily="18" charset="0"/>
                <a:ea typeface="SimSun" panose="02010600030101010101" pitchFamily="2" charset="-122"/>
              </a:rPr>
              <a:t>Alerts and Notifications</a:t>
            </a:r>
          </a:p>
          <a:p>
            <a:r>
              <a:rPr lang="en-IN" kern="0" dirty="0">
                <a:effectLst/>
                <a:latin typeface="Times New Roman" panose="02020603050405020304" pitchFamily="18" charset="0"/>
                <a:ea typeface="SimSun" panose="02010600030101010101" pitchFamily="2" charset="-122"/>
              </a:rPr>
              <a:t>Integration Capabilities</a:t>
            </a:r>
            <a:endParaRPr lang="en-US" dirty="0"/>
          </a:p>
        </p:txBody>
      </p:sp>
    </p:spTree>
    <p:extLst>
      <p:ext uri="{BB962C8B-B14F-4D97-AF65-F5344CB8AC3E}">
        <p14:creationId xmlns:p14="http://schemas.microsoft.com/office/powerpoint/2010/main" val="620077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narVert">
          <a:fgClr>
            <a:srgbClr val="00B050"/>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9403" y="0"/>
            <a:ext cx="10515600" cy="1325563"/>
          </a:xfrm>
        </p:spPr>
        <p:txBody>
          <a:bodyPr/>
          <a:lstStyle/>
          <a:p>
            <a:r>
              <a:rPr lang="en-US" dirty="0">
                <a:latin typeface="Bahnschrift SemiBold" panose="020B0502040204020203" pitchFamily="34" charset="0"/>
              </a:rPr>
              <a:t>OUR APP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6092" y="1004649"/>
            <a:ext cx="10185009" cy="5729068"/>
          </a:xfrm>
        </p:spPr>
      </p:pic>
    </p:spTree>
    <p:extLst>
      <p:ext uri="{BB962C8B-B14F-4D97-AF65-F5344CB8AC3E}">
        <p14:creationId xmlns:p14="http://schemas.microsoft.com/office/powerpoint/2010/main" val="1595190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narVert">
          <a:fgClr>
            <a:srgbClr val="34DE18"/>
          </a:fgClr>
          <a:bgClr>
            <a:schemeClr val="bg1"/>
          </a:bgClr>
        </a:patt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838200" y="323850"/>
            <a:ext cx="10515600" cy="5853113"/>
          </a:xfrm>
        </p:spPr>
        <p:txBody>
          <a:bodyPr>
            <a:normAutofit fontScale="92500" lnSpcReduction="10000"/>
          </a:bodyPr>
          <a:lstStyle/>
          <a:p>
            <a:pPr marL="0" indent="0">
              <a:buNone/>
            </a:pPr>
            <a:r>
              <a:rPr lang="en-US" sz="6600" dirty="0">
                <a:latin typeface="Bahnschrift SemiBold" panose="020B0502040204020203" pitchFamily="34" charset="0"/>
              </a:rPr>
              <a:t>BENEFITS ?</a:t>
            </a:r>
          </a:p>
          <a:p>
            <a:endParaRPr lang="en-US" dirty="0">
              <a:latin typeface="Bahnschrift SemiBold" panose="020B0502040204020203" pitchFamily="34" charset="0"/>
            </a:endParaRPr>
          </a:p>
          <a:p>
            <a:r>
              <a:rPr lang="en-US" dirty="0">
                <a:latin typeface="Bahnschrift SemiBold" panose="020B0502040204020203" pitchFamily="34" charset="0"/>
              </a:rPr>
              <a:t>Cost Savings</a:t>
            </a:r>
          </a:p>
          <a:p>
            <a:r>
              <a:rPr lang="en-US" dirty="0">
                <a:latin typeface="Bahnschrift SemiBold" panose="020B0502040204020203" pitchFamily="34" charset="0"/>
              </a:rPr>
              <a:t>Environmental Sustainability</a:t>
            </a:r>
          </a:p>
          <a:p>
            <a:r>
              <a:rPr lang="en-US" dirty="0">
                <a:latin typeface="Bahnschrift SemiBold" panose="020B0502040204020203" pitchFamily="34" charset="0"/>
              </a:rPr>
              <a:t>Reduced Overflowing Bins</a:t>
            </a:r>
          </a:p>
          <a:p>
            <a:r>
              <a:rPr lang="en-US" dirty="0">
                <a:latin typeface="Bahnschrift SemiBold" panose="020B0502040204020203" pitchFamily="34" charset="0"/>
              </a:rPr>
              <a:t>Improved Efficiency</a:t>
            </a:r>
          </a:p>
          <a:p>
            <a:r>
              <a:rPr lang="en-US" dirty="0">
                <a:latin typeface="Bahnschrift SemiBold" panose="020B0502040204020203" pitchFamily="34" charset="0"/>
              </a:rPr>
              <a:t>Real-Time Alerts</a:t>
            </a:r>
          </a:p>
          <a:p>
            <a:r>
              <a:rPr lang="en-US" dirty="0">
                <a:latin typeface="Bahnschrift SemiBold" panose="020B0502040204020203" pitchFamily="34" charset="0"/>
              </a:rPr>
              <a:t>Integration with Smart City Initiatives</a:t>
            </a:r>
          </a:p>
          <a:p>
            <a:r>
              <a:rPr lang="en-US" dirty="0">
                <a:latin typeface="Bahnschrift SemiBold" panose="020B0502040204020203" pitchFamily="34" charset="0"/>
              </a:rPr>
              <a:t>Less Odor and Pollution</a:t>
            </a:r>
          </a:p>
          <a:p>
            <a:r>
              <a:rPr lang="en-US" dirty="0">
                <a:latin typeface="Bahnschrift SemiBold" panose="020B0502040204020203" pitchFamily="34" charset="0"/>
              </a:rPr>
              <a:t>Community Awareness</a:t>
            </a:r>
          </a:p>
          <a:p>
            <a:r>
              <a:rPr lang="en-US" dirty="0">
                <a:latin typeface="Bahnschrift SemiBold" panose="020B0502040204020203" pitchFamily="34" charset="0"/>
              </a:rPr>
              <a:t>Route Optimization</a:t>
            </a:r>
          </a:p>
          <a:p>
            <a:r>
              <a:rPr lang="en-US" dirty="0">
                <a:latin typeface="Bahnschrift SemiBold" panose="020B0502040204020203" pitchFamily="34" charset="0"/>
              </a:rPr>
              <a:t>Fuel consumption</a:t>
            </a:r>
          </a:p>
          <a:p>
            <a:pPr marL="0" indent="0">
              <a:buNone/>
            </a:pPr>
            <a:endParaRPr lang="en-US" dirty="0">
              <a:latin typeface="Bahnschrift SemiBold" panose="020B0502040204020203" pitchFamily="34" charset="0"/>
            </a:endParaRPr>
          </a:p>
        </p:txBody>
      </p:sp>
      <p:pic>
        <p:nvPicPr>
          <p:cNvPr id="9" name="Picture 8"/>
          <p:cNvPicPr>
            <a:picLocks noChangeAspect="1"/>
          </p:cNvPicPr>
          <p:nvPr/>
        </p:nvPicPr>
        <p:blipFill rotWithShape="1">
          <a:blip r:embed="rId2"/>
          <a:srcRect l="15818" r="19455"/>
          <a:stretch/>
        </p:blipFill>
        <p:spPr>
          <a:xfrm>
            <a:off x="7659087" y="2133599"/>
            <a:ext cx="3866163" cy="4297039"/>
          </a:xfrm>
          <a:prstGeom prst="rect">
            <a:avLst/>
          </a:prstGeom>
        </p:spPr>
      </p:pic>
    </p:spTree>
    <p:extLst>
      <p:ext uri="{BB962C8B-B14F-4D97-AF65-F5344CB8AC3E}">
        <p14:creationId xmlns:p14="http://schemas.microsoft.com/office/powerpoint/2010/main" val="1392161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narVert">
          <a:fgClr>
            <a:srgbClr val="73B868"/>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ahnschrift SemiBold" panose="020B0502040204020203" pitchFamily="34" charset="0"/>
              </a:rPr>
              <a:t>INSIGHTS</a:t>
            </a:r>
          </a:p>
        </p:txBody>
      </p:sp>
      <p:sp>
        <p:nvSpPr>
          <p:cNvPr id="3" name="Content Placeholder 2"/>
          <p:cNvSpPr>
            <a:spLocks noGrp="1"/>
          </p:cNvSpPr>
          <p:nvPr>
            <p:ph idx="1"/>
          </p:nvPr>
        </p:nvSpPr>
        <p:spPr>
          <a:xfrm>
            <a:off x="838200" y="1899138"/>
            <a:ext cx="6645812" cy="4712677"/>
          </a:xfrm>
        </p:spPr>
        <p:txBody>
          <a:bodyPr>
            <a:normAutofit/>
          </a:bodyPr>
          <a:lstStyle/>
          <a:p>
            <a:pPr marL="0" lvl="0" indent="0">
              <a:lnSpc>
                <a:spcPts val="3145"/>
              </a:lnSpc>
              <a:spcBef>
                <a:spcPct val="0"/>
              </a:spcBef>
            </a:pPr>
            <a:r>
              <a:rPr lang="en-US" sz="2400" dirty="0">
                <a:solidFill>
                  <a:srgbClr val="211F1C"/>
                </a:solidFill>
                <a:latin typeface="Bahnschrift SemiBold" panose="020B0502040204020203" pitchFamily="34" charset="0"/>
                <a:ea typeface="Roboto Mono"/>
                <a:cs typeface="Roboto Mono"/>
                <a:sym typeface="Roboto Mono"/>
              </a:rPr>
              <a:t>A survey of waste collection workers revealed that 40% reported spending more than 30% of their time driving to bins that are not full.</a:t>
            </a:r>
          </a:p>
          <a:p>
            <a:pPr marL="0" lvl="0" indent="0">
              <a:lnSpc>
                <a:spcPts val="3145"/>
              </a:lnSpc>
              <a:spcBef>
                <a:spcPct val="0"/>
              </a:spcBef>
            </a:pPr>
            <a:r>
              <a:rPr lang="en-US" sz="2400" dirty="0">
                <a:solidFill>
                  <a:srgbClr val="211F1C"/>
                </a:solidFill>
                <a:latin typeface="Bahnschrift SemiBold" panose="020B0502040204020203" pitchFamily="34" charset="0"/>
                <a:ea typeface="Roboto Mono"/>
                <a:cs typeface="Roboto Mono"/>
                <a:sym typeface="Roboto Mono"/>
              </a:rPr>
              <a:t>Approximately 70% of waste collection workers believe that implementing technology like real-time tracking would enhance their efficiency and job satisfaction.</a:t>
            </a:r>
          </a:p>
          <a:p>
            <a:pPr marL="0" lvl="0" indent="0">
              <a:lnSpc>
                <a:spcPts val="3145"/>
              </a:lnSpc>
              <a:spcBef>
                <a:spcPct val="0"/>
              </a:spcBef>
            </a:pPr>
            <a:r>
              <a:rPr lang="en-US" sz="2400" dirty="0">
                <a:solidFill>
                  <a:srgbClr val="211F1C"/>
                </a:solidFill>
                <a:latin typeface="Bahnschrift SemiBold" panose="020B0502040204020203" pitchFamily="34" charset="0"/>
                <a:ea typeface="Roboto Mono"/>
                <a:cs typeface="Roboto Mono"/>
                <a:sym typeface="Roboto Mono"/>
              </a:rPr>
              <a:t>A study found that 60% of residents have experienced overflowing bins at least once a month, leading to complaints and a perception of poor service.</a:t>
            </a:r>
          </a:p>
        </p:txBody>
      </p:sp>
      <p:pic>
        <p:nvPicPr>
          <p:cNvPr id="4" name="Picture 3"/>
          <p:cNvPicPr>
            <a:picLocks noChangeAspect="1"/>
          </p:cNvPicPr>
          <p:nvPr/>
        </p:nvPicPr>
        <p:blipFill>
          <a:blip r:embed="rId2"/>
          <a:stretch>
            <a:fillRect/>
          </a:stretch>
        </p:blipFill>
        <p:spPr>
          <a:xfrm>
            <a:off x="7608617" y="2110153"/>
            <a:ext cx="4209418" cy="3348113"/>
          </a:xfrm>
          <a:prstGeom prst="rect">
            <a:avLst/>
          </a:prstGeom>
        </p:spPr>
      </p:pic>
    </p:spTree>
    <p:extLst>
      <p:ext uri="{BB962C8B-B14F-4D97-AF65-F5344CB8AC3E}">
        <p14:creationId xmlns:p14="http://schemas.microsoft.com/office/powerpoint/2010/main" val="870778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narVert">
          <a:fgClr>
            <a:srgbClr val="92D050"/>
          </a:fgClr>
          <a:bgClr>
            <a:schemeClr val="bg1"/>
          </a:bgClr>
        </a:patt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1170" y="2447777"/>
            <a:ext cx="9032630" cy="1041011"/>
          </a:xfrm>
        </p:spPr>
        <p:txBody>
          <a:bodyPr>
            <a:normAutofit lnSpcReduction="10000"/>
          </a:bodyPr>
          <a:lstStyle/>
          <a:p>
            <a:pPr marL="0" indent="0">
              <a:buNone/>
            </a:pPr>
            <a:r>
              <a:rPr lang="en-US" sz="7200" dirty="0">
                <a:latin typeface="Bahnschrift SemiBold" panose="020B0502040204020203" pitchFamily="34" charset="0"/>
              </a:rPr>
              <a:t>      THANKYOU!</a:t>
            </a:r>
            <a:r>
              <a:rPr lang="en-US" dirty="0">
                <a:latin typeface="Bahnschrift SemiBold" panose="020B0502040204020203" pitchFamily="34" charset="0"/>
              </a:rPr>
              <a:t> </a:t>
            </a:r>
          </a:p>
        </p:txBody>
      </p:sp>
      <p:sp>
        <p:nvSpPr>
          <p:cNvPr id="2" name="TextBox 1">
            <a:extLst>
              <a:ext uri="{FF2B5EF4-FFF2-40B4-BE49-F238E27FC236}">
                <a16:creationId xmlns:a16="http://schemas.microsoft.com/office/drawing/2014/main" id="{FCD49900-290E-35D1-F842-53E9DF51A647}"/>
              </a:ext>
            </a:extLst>
          </p:cNvPr>
          <p:cNvSpPr txBox="1"/>
          <p:nvPr/>
        </p:nvSpPr>
        <p:spPr>
          <a:xfrm>
            <a:off x="8864083" y="5383762"/>
            <a:ext cx="5477069" cy="1200329"/>
          </a:xfrm>
          <a:prstGeom prst="rect">
            <a:avLst/>
          </a:prstGeom>
          <a:noFill/>
        </p:spPr>
        <p:txBody>
          <a:bodyPr wrap="square" rtlCol="0">
            <a:spAutoFit/>
          </a:bodyPr>
          <a:lstStyle/>
          <a:p>
            <a:r>
              <a:rPr lang="en-US" dirty="0"/>
              <a:t>NIVETHA M</a:t>
            </a:r>
          </a:p>
          <a:p>
            <a:r>
              <a:rPr lang="en-US" dirty="0"/>
              <a:t>RAKSHITA BHAGYA SHRI P</a:t>
            </a:r>
          </a:p>
          <a:p>
            <a:r>
              <a:rPr lang="en-US" dirty="0"/>
              <a:t>SIJU N</a:t>
            </a:r>
          </a:p>
          <a:p>
            <a:r>
              <a:rPr lang="en-US" dirty="0"/>
              <a:t>SRIDHA SRINIVASARAGHAVAN</a:t>
            </a:r>
            <a:endParaRPr lang="en-IN" dirty="0"/>
          </a:p>
        </p:txBody>
      </p:sp>
    </p:spTree>
    <p:extLst>
      <p:ext uri="{BB962C8B-B14F-4D97-AF65-F5344CB8AC3E}">
        <p14:creationId xmlns:p14="http://schemas.microsoft.com/office/powerpoint/2010/main" val="91999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TotalTime>
  <Words>417</Words>
  <Application>Microsoft Office PowerPoint</Application>
  <PresentationFormat>Widescreen</PresentationFormat>
  <Paragraphs>55</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Bahnschrift Condensed</vt:lpstr>
      <vt:lpstr>Bahnschrift SemiBold</vt:lpstr>
      <vt:lpstr>Calibri</vt:lpstr>
      <vt:lpstr>Calibri Light</vt:lpstr>
      <vt:lpstr>Symbol</vt:lpstr>
      <vt:lpstr>Times New Roman</vt:lpstr>
      <vt:lpstr>Office Theme</vt:lpstr>
      <vt:lpstr>SMART WASTE MANAGEMENT SYSTEM USING IOT</vt:lpstr>
      <vt:lpstr>What have we come up with ?</vt:lpstr>
      <vt:lpstr>OUR DESIGN</vt:lpstr>
      <vt:lpstr>PROPOSED SYSTEM</vt:lpstr>
      <vt:lpstr>CIRCUIT DIAGRAM</vt:lpstr>
      <vt:lpstr>COST ESTIMATION </vt:lpstr>
      <vt:lpstr>Software Integration</vt:lpstr>
      <vt:lpstr>OUR APP </vt:lpstr>
      <vt:lpstr>PowerPoint Presentation</vt:lpstr>
      <vt:lpstr>INSIGHTS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WASTE MANAGEMENT SYSTEM USING IOT</dc:title>
  <dc:creator>Amirtha</dc:creator>
  <cp:lastModifiedBy>SIJU N</cp:lastModifiedBy>
  <cp:revision>17</cp:revision>
  <dcterms:created xsi:type="dcterms:W3CDTF">2024-09-25T05:02:28Z</dcterms:created>
  <dcterms:modified xsi:type="dcterms:W3CDTF">2025-01-31T16:03:08Z</dcterms:modified>
</cp:coreProperties>
</file>
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nton" pitchFamily="2" charset="0"/>
      <p:regular r:id="rId9"/>
    </p:embeddedFont>
    <p:embeddedFont>
      <p:font typeface="Courier Prime" panose="020B0604020202020204" charset="0"/>
      <p:regular r:id="rId10"/>
    </p:embeddedFont>
    <p:embeddedFont>
      <p:font typeface="Nunito Sans Expanded Semi-Bold" panose="020B0604020202020204" charset="0"/>
      <p:regular r:id="rId11"/>
    </p:embeddedFont>
    <p:embeddedFont>
      <p:font typeface="Roboto Mono" panose="00000009000000000000" pitchFamily="49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3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21890" y="377753"/>
            <a:ext cx="17056485" cy="197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1"/>
              </a:lnSpc>
            </a:pPr>
            <a:r>
              <a:rPr lang="en-US" sz="7566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SMART WASTE MANAGEMENT SYSTEM</a:t>
            </a:r>
          </a:p>
          <a:p>
            <a:pPr algn="ctr">
              <a:lnSpc>
                <a:spcPts val="7641"/>
              </a:lnSpc>
            </a:pPr>
            <a:r>
              <a:rPr lang="en-US" sz="7566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AN IOT BASED SMART BIN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1633272" y="1756338"/>
            <a:ext cx="3904425" cy="1520262"/>
            <a:chOff x="0" y="0"/>
            <a:chExt cx="5205900" cy="2027016"/>
          </a:xfrm>
        </p:grpSpPr>
        <p:sp>
          <p:nvSpPr>
            <p:cNvPr id="7" name="Freeform 7"/>
            <p:cNvSpPr/>
            <p:nvPr/>
          </p:nvSpPr>
          <p:spPr>
            <a:xfrm rot="-646737">
              <a:off x="57404" y="466417"/>
              <a:ext cx="5091093" cy="1094183"/>
            </a:xfrm>
            <a:custGeom>
              <a:avLst/>
              <a:gdLst/>
              <a:ahLst/>
              <a:cxnLst/>
              <a:rect l="l" t="t" r="r" b="b"/>
              <a:pathLst>
                <a:path w="5091093" h="1094183">
                  <a:moveTo>
                    <a:pt x="0" y="0"/>
                  </a:moveTo>
                  <a:lnTo>
                    <a:pt x="5091093" y="0"/>
                  </a:lnTo>
                  <a:lnTo>
                    <a:pt x="5091093" y="1094183"/>
                  </a:lnTo>
                  <a:lnTo>
                    <a:pt x="0" y="1094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367" t="-175930" r="-8781" b="-423912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 rot="-646737">
              <a:off x="887969" y="670233"/>
              <a:ext cx="3402541" cy="5425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84"/>
                </a:lnSpc>
                <a:spcBef>
                  <a:spcPct val="0"/>
                </a:spcBef>
              </a:pPr>
              <a:r>
                <a:rPr lang="en-US" sz="2370" spc="348">
                  <a:solidFill>
                    <a:srgbClr val="FFFFFF"/>
                  </a:solidFill>
                  <a:latin typeface="Courier Prime"/>
                  <a:ea typeface="Courier Prime"/>
                  <a:cs typeface="Courier Prime"/>
                  <a:sym typeface="Courier Prime"/>
                </a:rPr>
                <a:t>EMPATHY MAP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2028433" y="5310363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421890" y="7626691"/>
            <a:ext cx="7422572" cy="15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10"/>
              </a:lnSpc>
            </a:pPr>
            <a:r>
              <a:rPr lang="en-US" sz="1639" b="1" spc="241">
                <a:solidFill>
                  <a:srgbClr val="211F1C"/>
                </a:solidFill>
                <a:latin typeface="Nunito Sans Expanded Semi-Bold"/>
                <a:ea typeface="Nunito Sans Expanded Semi-Bold"/>
                <a:cs typeface="Nunito Sans Expanded Semi-Bold"/>
                <a:sym typeface="Nunito Sans Expanded Semi-Bold"/>
              </a:rPr>
              <a:t>23BAD126      VIJEY R S</a:t>
            </a:r>
          </a:p>
          <a:p>
            <a:pPr algn="just">
              <a:lnSpc>
                <a:spcPts val="2410"/>
              </a:lnSpc>
            </a:pPr>
            <a:r>
              <a:rPr lang="en-US" sz="1639" b="1" spc="241">
                <a:solidFill>
                  <a:srgbClr val="211F1C"/>
                </a:solidFill>
                <a:latin typeface="Nunito Sans Expanded Semi-Bold"/>
                <a:ea typeface="Nunito Sans Expanded Semi-Bold"/>
                <a:cs typeface="Nunito Sans Expanded Semi-Bold"/>
                <a:sym typeface="Nunito Sans Expanded Semi-Bold"/>
              </a:rPr>
              <a:t>23BAD088      PRITHIVIRAJ P S S</a:t>
            </a:r>
          </a:p>
          <a:p>
            <a:pPr algn="just">
              <a:lnSpc>
                <a:spcPts val="2410"/>
              </a:lnSpc>
            </a:pPr>
            <a:r>
              <a:rPr lang="en-US" sz="1639" b="1" spc="241">
                <a:solidFill>
                  <a:srgbClr val="211F1C"/>
                </a:solidFill>
                <a:latin typeface="Nunito Sans Expanded Semi-Bold"/>
                <a:ea typeface="Nunito Sans Expanded Semi-Bold"/>
                <a:cs typeface="Nunito Sans Expanded Semi-Bold"/>
                <a:sym typeface="Nunito Sans Expanded Semi-Bold"/>
              </a:rPr>
              <a:t>23BAD116      SRIDHA SRINIVASARAGHAVAN</a:t>
            </a:r>
          </a:p>
          <a:p>
            <a:pPr algn="just">
              <a:lnSpc>
                <a:spcPts val="2410"/>
              </a:lnSpc>
            </a:pPr>
            <a:r>
              <a:rPr lang="en-US" sz="1639" b="1" spc="241">
                <a:solidFill>
                  <a:srgbClr val="211F1C"/>
                </a:solidFill>
                <a:latin typeface="Nunito Sans Expanded Semi-Bold"/>
                <a:ea typeface="Nunito Sans Expanded Semi-Bold"/>
                <a:cs typeface="Nunito Sans Expanded Semi-Bold"/>
                <a:sym typeface="Nunito Sans Expanded Semi-Bold"/>
              </a:rPr>
              <a:t>23BAD115      SIJU N</a:t>
            </a:r>
          </a:p>
          <a:p>
            <a:pPr marL="0" lvl="0" indent="0" algn="just">
              <a:lnSpc>
                <a:spcPts val="2410"/>
              </a:lnSpc>
              <a:spcBef>
                <a:spcPct val="0"/>
              </a:spcBef>
            </a:pPr>
            <a:r>
              <a:rPr lang="en-US" sz="1639" b="1" spc="241">
                <a:solidFill>
                  <a:srgbClr val="211F1C"/>
                </a:solidFill>
                <a:latin typeface="Nunito Sans Expanded Semi-Bold"/>
                <a:ea typeface="Nunito Sans Expanded Semi-Bold"/>
                <a:cs typeface="Nunito Sans Expanded Semi-Bold"/>
                <a:sym typeface="Nunito Sans Expanded Semi-Bold"/>
              </a:rPr>
              <a:t>23BAD012      AMIRTHA NANDAKUMAR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09625" y="8440620"/>
            <a:ext cx="6242072" cy="111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5"/>
              </a:lnSpc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EMPATHY MAP</a:t>
            </a:r>
          </a:p>
        </p:txBody>
      </p:sp>
      <p:sp>
        <p:nvSpPr>
          <p:cNvPr id="6" name="AutoShape 6"/>
          <p:cNvSpPr/>
          <p:nvPr/>
        </p:nvSpPr>
        <p:spPr>
          <a:xfrm>
            <a:off x="-2626987" y="7408106"/>
            <a:ext cx="23541974" cy="0"/>
          </a:xfrm>
          <a:prstGeom prst="line">
            <a:avLst/>
          </a:prstGeom>
          <a:ln w="19050" cap="flat">
            <a:solidFill>
              <a:srgbClr val="211F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 flipH="1">
            <a:off x="2741871" y="6611469"/>
            <a:ext cx="0" cy="796637"/>
          </a:xfrm>
          <a:prstGeom prst="line">
            <a:avLst/>
          </a:prstGeom>
          <a:ln w="19050" cap="flat">
            <a:solidFill>
              <a:srgbClr val="211F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828921" y="3522344"/>
            <a:ext cx="3825900" cy="3089124"/>
            <a:chOff x="0" y="0"/>
            <a:chExt cx="872834" cy="70474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72834" cy="704747"/>
            </a:xfrm>
            <a:custGeom>
              <a:avLst/>
              <a:gdLst/>
              <a:ahLst/>
              <a:cxnLst/>
              <a:rect l="l" t="t" r="r" b="b"/>
              <a:pathLst>
                <a:path w="872834" h="704747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lIns="58646" tIns="58646" rIns="58646" bIns="58646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78266" y="4392569"/>
            <a:ext cx="3127211" cy="1607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Some days, we drive long routes for half-full bins, and sometimes they overflow when we arrive."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66" y="3862018"/>
            <a:ext cx="3127211" cy="38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886" spc="28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SAYS</a:t>
            </a:r>
          </a:p>
        </p:txBody>
      </p:sp>
      <p:sp>
        <p:nvSpPr>
          <p:cNvPr id="13" name="AutoShape 13"/>
          <p:cNvSpPr/>
          <p:nvPr/>
        </p:nvSpPr>
        <p:spPr>
          <a:xfrm flipH="1">
            <a:off x="7061222" y="6611469"/>
            <a:ext cx="0" cy="796637"/>
          </a:xfrm>
          <a:prstGeom prst="line">
            <a:avLst/>
          </a:prstGeom>
          <a:ln w="19050" cap="flat">
            <a:solidFill>
              <a:srgbClr val="211F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4" name="Group 14"/>
          <p:cNvGrpSpPr/>
          <p:nvPr/>
        </p:nvGrpSpPr>
        <p:grpSpPr>
          <a:xfrm>
            <a:off x="5138747" y="3522344"/>
            <a:ext cx="3825900" cy="3089124"/>
            <a:chOff x="0" y="0"/>
            <a:chExt cx="872834" cy="70474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72834" cy="704747"/>
            </a:xfrm>
            <a:custGeom>
              <a:avLst/>
              <a:gdLst/>
              <a:ahLst/>
              <a:cxnLst/>
              <a:rect l="l" t="t" r="r" b="b"/>
              <a:pathLst>
                <a:path w="872834" h="704747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lIns="58646" tIns="58646" rIns="58646" bIns="58646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5497617" y="4328063"/>
            <a:ext cx="3127211" cy="1931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The smart system could make the job less stressful by giving clear instructions and reducing unnecessary work.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88092" y="3862018"/>
            <a:ext cx="3127211" cy="38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886" spc="28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THINKS</a:t>
            </a:r>
          </a:p>
        </p:txBody>
      </p:sp>
      <p:sp>
        <p:nvSpPr>
          <p:cNvPr id="19" name="AutoShape 19"/>
          <p:cNvSpPr/>
          <p:nvPr/>
        </p:nvSpPr>
        <p:spPr>
          <a:xfrm>
            <a:off x="11361523" y="6611469"/>
            <a:ext cx="0" cy="796637"/>
          </a:xfrm>
          <a:prstGeom prst="line">
            <a:avLst/>
          </a:prstGeom>
          <a:ln w="19050" cap="flat">
            <a:solidFill>
              <a:srgbClr val="211F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9458097" y="3522344"/>
            <a:ext cx="3825900" cy="3089124"/>
            <a:chOff x="0" y="0"/>
            <a:chExt cx="872834" cy="70474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72834" cy="704747"/>
            </a:xfrm>
            <a:custGeom>
              <a:avLst/>
              <a:gdLst/>
              <a:ahLst/>
              <a:cxnLst/>
              <a:rect l="l" t="t" r="r" b="b"/>
              <a:pathLst>
                <a:path w="872834" h="704747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lIns="58646" tIns="58646" rIns="58646" bIns="58646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556471" y="4337588"/>
            <a:ext cx="3610104" cy="2123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70"/>
              </a:lnSpc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We follow fixed routes and check bin levels manually, which leads to wasted trips. I dispose of waste regularly, but bins sometimes overflow or aren’t emptied on time."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7442" y="3862018"/>
            <a:ext cx="3127211" cy="38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886" spc="28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DOES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5699923" y="6611469"/>
            <a:ext cx="0" cy="796637"/>
          </a:xfrm>
          <a:prstGeom prst="line">
            <a:avLst/>
          </a:prstGeom>
          <a:ln w="19050" cap="flat">
            <a:solidFill>
              <a:srgbClr val="211F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13769773" y="3522344"/>
            <a:ext cx="3825900" cy="3089124"/>
            <a:chOff x="0" y="0"/>
            <a:chExt cx="872834" cy="70474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72834" cy="704747"/>
            </a:xfrm>
            <a:custGeom>
              <a:avLst/>
              <a:gdLst/>
              <a:ahLst/>
              <a:cxnLst/>
              <a:rect l="l" t="t" r="r" b="b"/>
              <a:pathLst>
                <a:path w="872834" h="704747">
                  <a:moveTo>
                    <a:pt x="72848" y="0"/>
                  </a:moveTo>
                  <a:lnTo>
                    <a:pt x="799986" y="0"/>
                  </a:lnTo>
                  <a:cubicBezTo>
                    <a:pt x="819306" y="0"/>
                    <a:pt x="837835" y="7675"/>
                    <a:pt x="851497" y="21337"/>
                  </a:cubicBezTo>
                  <a:cubicBezTo>
                    <a:pt x="865159" y="34998"/>
                    <a:pt x="872834" y="53527"/>
                    <a:pt x="872834" y="72848"/>
                  </a:cubicBezTo>
                  <a:lnTo>
                    <a:pt x="872834" y="631899"/>
                  </a:lnTo>
                  <a:cubicBezTo>
                    <a:pt x="872834" y="651219"/>
                    <a:pt x="865159" y="669749"/>
                    <a:pt x="851497" y="683410"/>
                  </a:cubicBezTo>
                  <a:cubicBezTo>
                    <a:pt x="837835" y="697072"/>
                    <a:pt x="819306" y="704747"/>
                    <a:pt x="799986" y="704747"/>
                  </a:cubicBezTo>
                  <a:lnTo>
                    <a:pt x="72848" y="704747"/>
                  </a:lnTo>
                  <a:cubicBezTo>
                    <a:pt x="53527" y="704747"/>
                    <a:pt x="34998" y="697072"/>
                    <a:pt x="21337" y="683410"/>
                  </a:cubicBezTo>
                  <a:cubicBezTo>
                    <a:pt x="7675" y="669749"/>
                    <a:pt x="0" y="651219"/>
                    <a:pt x="0" y="631899"/>
                  </a:cubicBezTo>
                  <a:lnTo>
                    <a:pt x="0" y="72848"/>
                  </a:lnTo>
                  <a:cubicBezTo>
                    <a:pt x="0" y="53527"/>
                    <a:pt x="7675" y="34998"/>
                    <a:pt x="21337" y="21337"/>
                  </a:cubicBezTo>
                  <a:cubicBezTo>
                    <a:pt x="34998" y="7675"/>
                    <a:pt x="53527" y="0"/>
                    <a:pt x="72848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872834" cy="742847"/>
            </a:xfrm>
            <a:prstGeom prst="rect">
              <a:avLst/>
            </a:prstGeom>
          </p:spPr>
          <p:txBody>
            <a:bodyPr lIns="58646" tIns="58646" rIns="58646" bIns="58646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4112673" y="4266912"/>
            <a:ext cx="3127211" cy="2254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Frustrated by inefficient routes and wasted time, We're annoyed by inconsistent waste collection that creates unsanitary conditions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132089" y="3862018"/>
            <a:ext cx="3127211" cy="38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5"/>
              </a:lnSpc>
            </a:pPr>
            <a:r>
              <a:rPr lang="en-US" sz="2886" spc="288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FEELS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5056" y="3552598"/>
            <a:ext cx="4993936" cy="6386740"/>
            <a:chOff x="0" y="0"/>
            <a:chExt cx="1315275" cy="1682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92167" y="3861908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RESIDENTS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0302" y="4455633"/>
            <a:ext cx="4256939" cy="592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"The bins are always overflowing, and the garbage trucks don't come on time."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"I've noticed that the collection trucks now come when the bins are full, not just on a fixed schedule."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“It's great that this system helps reduce waste and improve recycling rates."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998"/>
              </a:lnSpc>
              <a:spcBef>
                <a:spcPct val="0"/>
              </a:spcBef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084605" y="3552598"/>
            <a:ext cx="4993936" cy="6386740"/>
            <a:chOff x="0" y="0"/>
            <a:chExt cx="1315275" cy="1682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69829" y="3861908"/>
            <a:ext cx="4564956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MUNICIPAL WASTE MANAGEMENT AUTHORITIES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53104" y="4728402"/>
            <a:ext cx="4256939" cy="480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"We used to struggle with scheduling routes efficiently, but now we rely on real- time data."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"The system helps us identify where we need to send trucks, reducing unnecessary trips."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998"/>
              </a:lnSpc>
              <a:spcBef>
                <a:spcPct val="0"/>
              </a:spcBef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"We are seeing higher recycling rates and less waste in the streets."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0302" y="1754075"/>
            <a:ext cx="10787396" cy="635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Some days, we drive long routes for half-full bins, and sometimes they overflow when we arrive."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44165" y="25483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SAYS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5056" y="3552598"/>
            <a:ext cx="4993936" cy="6386740"/>
            <a:chOff x="0" y="0"/>
            <a:chExt cx="1315275" cy="1682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92167" y="3861908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RESIDENTS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3555" y="4337215"/>
            <a:ext cx="4256939" cy="517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 wish the city would manage waste collection more effectively, with fewer overflows.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The city's new lot system seems to be working. It's more convenient and keeps the area clean.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998"/>
              </a:lnSpc>
              <a:spcBef>
                <a:spcPct val="0"/>
              </a:spcBef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 think this will have a positive impact on the environment, and I'll do my part by recycling more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84605" y="3552598"/>
            <a:ext cx="4993936" cy="6386740"/>
            <a:chOff x="0" y="0"/>
            <a:chExt cx="1315275" cy="1682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69829" y="3861908"/>
            <a:ext cx="4564956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MUNICIPAL WASTE MANAGEMENT AUTHORITIES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23838" y="4613625"/>
            <a:ext cx="4256939" cy="5137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4"/>
              </a:lnSpc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The loT system is a game changer for optimizing waste collection and reducing operational costs.</a:t>
            </a:r>
          </a:p>
          <a:p>
            <a:pPr algn="ctr">
              <a:lnSpc>
                <a:spcPts val="2704"/>
              </a:lnSpc>
            </a:pPr>
            <a:endParaRPr lang="en-US" sz="18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704"/>
              </a:lnSpc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We're reducing environmental impact and making our operations more efficient. This is the future of waste management.</a:t>
            </a:r>
          </a:p>
          <a:p>
            <a:pPr algn="ctr">
              <a:lnSpc>
                <a:spcPts val="2704"/>
              </a:lnSpc>
            </a:pPr>
            <a:endParaRPr lang="en-US" sz="18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704"/>
              </a:lnSpc>
              <a:spcBef>
                <a:spcPct val="0"/>
              </a:spcBef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If this continues to work well, we can expand it to cover more areas and optimize other city services.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0302" y="1754075"/>
            <a:ext cx="10787396" cy="635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The smart system could make the job less stressful by giving clear instructions and reducing unnecessary work.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44165" y="25483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THINKS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5056" y="3552598"/>
            <a:ext cx="4993936" cy="6386740"/>
            <a:chOff x="0" y="0"/>
            <a:chExt cx="1315275" cy="1682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92167" y="3861908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RESIDENTS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3555" y="4111145"/>
            <a:ext cx="4256939" cy="577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Dispose of waste regularly, but may experience issues when bins overflow or aren't emptied on time.</a:t>
            </a:r>
          </a:p>
          <a:p>
            <a:pPr algn="ctr">
              <a:lnSpc>
                <a:spcPts val="2851"/>
              </a:lnSpc>
            </a:pPr>
            <a:endParaRPr lang="en-US" sz="19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851"/>
              </a:lnSpc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Use public bins regularly and notice cleaner surroundings and fewer incidents of overflowing waste.</a:t>
            </a:r>
          </a:p>
          <a:p>
            <a:pPr algn="ctr">
              <a:lnSpc>
                <a:spcPts val="2851"/>
              </a:lnSpc>
            </a:pPr>
            <a:endParaRPr lang="en-US" sz="19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851"/>
              </a:lnSpc>
              <a:spcBef>
                <a:spcPct val="0"/>
              </a:spcBef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Participate in local recycling initiatives, knowing that waste collection is optimized for sustainability.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84605" y="3552598"/>
            <a:ext cx="4993936" cy="6386740"/>
            <a:chOff x="0" y="0"/>
            <a:chExt cx="1315275" cy="1682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69829" y="3861908"/>
            <a:ext cx="4564956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MUNICIPAL WASTE MANAGEMENT AUTHORITIES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53104" y="4474683"/>
            <a:ext cx="4256939" cy="5337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Implement loT-enabled smart bins and oversee the optimization of waste collection routes through the fleet management system.</a:t>
            </a:r>
          </a:p>
          <a:p>
            <a:pPr algn="ctr">
              <a:lnSpc>
                <a:spcPts val="2483"/>
              </a:lnSpc>
            </a:pPr>
            <a:endParaRPr lang="en-US" sz="18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483"/>
              </a:lnSpc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Monitor waste collection performance through real- time dashboards and adjust strategies based on data analytics.</a:t>
            </a:r>
          </a:p>
          <a:p>
            <a:pPr algn="ctr">
              <a:lnSpc>
                <a:spcPts val="2483"/>
              </a:lnSpc>
            </a:pPr>
            <a:endParaRPr lang="en-US" sz="18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483"/>
              </a:lnSpc>
            </a:pPr>
            <a:r>
              <a:rPr lang="en-US" sz="18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Collect and analyze data to improve recycling rates, predict future waste patterns, and manage resources more effectively.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0302" y="1754075"/>
            <a:ext cx="10787396" cy="959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We follow fixed routes and check bin levels manually, which leads to wasted trips. I dispose of waste regularly, but bins sometimes overflow or aren’t emptied on time."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44165" y="25483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DOES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85056" y="3552598"/>
            <a:ext cx="4993936" cy="6386740"/>
            <a:chOff x="0" y="0"/>
            <a:chExt cx="1315275" cy="168210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92167" y="3861908"/>
            <a:ext cx="277971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RESIDENTS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53555" y="4455633"/>
            <a:ext cx="4256939" cy="517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Annoyed when waste collection is inconsistent, leading to unsanitary conditions.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Pleased that the bins are being emptied efficiently, without regular overflows.</a:t>
            </a: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998"/>
              </a:lnSpc>
            </a:pPr>
            <a:endParaRPr lang="en-US" sz="20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998"/>
              </a:lnSpc>
              <a:spcBef>
                <a:spcPct val="0"/>
              </a:spcBef>
            </a:pPr>
            <a:r>
              <a:rPr lang="en-US" sz="20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Proud to live in a city that's more eco- friendly and innovative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084605" y="3552598"/>
            <a:ext cx="4993936" cy="6386740"/>
            <a:chOff x="0" y="0"/>
            <a:chExt cx="1315275" cy="16821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15275" cy="1682104"/>
            </a:xfrm>
            <a:custGeom>
              <a:avLst/>
              <a:gdLst/>
              <a:ahLst/>
              <a:cxnLst/>
              <a:rect l="l" t="t" r="r" b="b"/>
              <a:pathLst>
                <a:path w="1315275" h="1682104">
                  <a:moveTo>
                    <a:pt x="55810" y="0"/>
                  </a:moveTo>
                  <a:lnTo>
                    <a:pt x="1259466" y="0"/>
                  </a:lnTo>
                  <a:cubicBezTo>
                    <a:pt x="1274268" y="0"/>
                    <a:pt x="1288463" y="5880"/>
                    <a:pt x="1298929" y="16346"/>
                  </a:cubicBezTo>
                  <a:cubicBezTo>
                    <a:pt x="1309396" y="26813"/>
                    <a:pt x="1315275" y="41008"/>
                    <a:pt x="1315275" y="55810"/>
                  </a:cubicBezTo>
                  <a:lnTo>
                    <a:pt x="1315275" y="1626295"/>
                  </a:lnTo>
                  <a:cubicBezTo>
                    <a:pt x="1315275" y="1641097"/>
                    <a:pt x="1309396" y="1655292"/>
                    <a:pt x="1298929" y="1665758"/>
                  </a:cubicBezTo>
                  <a:cubicBezTo>
                    <a:pt x="1288463" y="1676225"/>
                    <a:pt x="1274268" y="1682104"/>
                    <a:pt x="1259466" y="1682104"/>
                  </a:cubicBezTo>
                  <a:lnTo>
                    <a:pt x="55810" y="1682104"/>
                  </a:lnTo>
                  <a:cubicBezTo>
                    <a:pt x="41008" y="1682104"/>
                    <a:pt x="26813" y="1676225"/>
                    <a:pt x="16346" y="1665758"/>
                  </a:cubicBezTo>
                  <a:cubicBezTo>
                    <a:pt x="5880" y="1655292"/>
                    <a:pt x="0" y="1641097"/>
                    <a:pt x="0" y="1626295"/>
                  </a:cubicBezTo>
                  <a:lnTo>
                    <a:pt x="0" y="55810"/>
                  </a:lnTo>
                  <a:cubicBezTo>
                    <a:pt x="0" y="41008"/>
                    <a:pt x="5880" y="26813"/>
                    <a:pt x="16346" y="16346"/>
                  </a:cubicBezTo>
                  <a:cubicBezTo>
                    <a:pt x="26813" y="5880"/>
                    <a:pt x="41008" y="0"/>
                    <a:pt x="55810" y="0"/>
                  </a:cubicBezTo>
                  <a:close/>
                </a:path>
              </a:pathLst>
            </a:custGeom>
            <a:solidFill>
              <a:srgbClr val="F1F1F1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15275" cy="17202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16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69829" y="3861908"/>
            <a:ext cx="4564956" cy="64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00" spc="250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MUNICIPAL WASTE MANAGEMENT AUTHORITIES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53104" y="4874733"/>
            <a:ext cx="4256939" cy="468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Relieved to have better control over waste collection operations and to minimize resident complaints.</a:t>
            </a:r>
          </a:p>
          <a:p>
            <a:pPr algn="ctr">
              <a:lnSpc>
                <a:spcPts val="2851"/>
              </a:lnSpc>
            </a:pPr>
            <a:endParaRPr lang="en-US" sz="19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algn="ctr">
              <a:lnSpc>
                <a:spcPts val="2851"/>
              </a:lnSpc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Confident that the system will help reduce fuel costs and improve service quality.</a:t>
            </a:r>
          </a:p>
          <a:p>
            <a:pPr algn="ctr">
              <a:lnSpc>
                <a:spcPts val="2851"/>
              </a:lnSpc>
            </a:pPr>
            <a:endParaRPr lang="en-US" sz="19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ctr">
              <a:lnSpc>
                <a:spcPts val="2851"/>
              </a:lnSpc>
              <a:spcBef>
                <a:spcPct val="0"/>
              </a:spcBef>
            </a:pPr>
            <a:r>
              <a:rPr lang="en-US" sz="19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Proud of the environmental and operational improvements that loT has enabled.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50302" y="1754075"/>
            <a:ext cx="10787396" cy="635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57"/>
              </a:lnSpc>
              <a:spcBef>
                <a:spcPct val="0"/>
              </a:spcBef>
            </a:pPr>
            <a:r>
              <a:rPr lang="en-US" sz="17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Frustrated by inefficient routes and wasted time, We're annoyed by inconsistent waste collection that creates unsanitary conditions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144165" y="254832"/>
            <a:ext cx="13999670" cy="112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75"/>
              </a:lnSpc>
              <a:spcBef>
                <a:spcPct val="0"/>
              </a:spcBef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FEELS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3476" y="-580404"/>
            <a:ext cx="22876567" cy="11447809"/>
            <a:chOff x="0" y="0"/>
            <a:chExt cx="30502090" cy="152637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15238345" y="0"/>
              <a:ext cx="15263745" cy="15263745"/>
            </a:xfrm>
            <a:custGeom>
              <a:avLst/>
              <a:gdLst/>
              <a:ahLst/>
              <a:cxnLst/>
              <a:rect l="l" t="t" r="r" b="b"/>
              <a:pathLst>
                <a:path w="15263745" h="15263745">
                  <a:moveTo>
                    <a:pt x="0" y="0"/>
                  </a:moveTo>
                  <a:lnTo>
                    <a:pt x="15263745" y="0"/>
                  </a:lnTo>
                  <a:lnTo>
                    <a:pt x="15263745" y="15263745"/>
                  </a:lnTo>
                  <a:lnTo>
                    <a:pt x="0" y="152637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Freeform 5"/>
          <p:cNvSpPr/>
          <p:nvPr/>
        </p:nvSpPr>
        <p:spPr>
          <a:xfrm>
            <a:off x="10531334" y="307923"/>
            <a:ext cx="6081384" cy="4835577"/>
          </a:xfrm>
          <a:custGeom>
            <a:avLst/>
            <a:gdLst/>
            <a:ahLst/>
            <a:cxnLst/>
            <a:rect l="l" t="t" r="r" b="b"/>
            <a:pathLst>
              <a:path w="6081384" h="4835577">
                <a:moveTo>
                  <a:pt x="0" y="0"/>
                </a:moveTo>
                <a:lnTo>
                  <a:pt x="6081384" y="0"/>
                </a:lnTo>
                <a:lnTo>
                  <a:pt x="6081384" y="4835577"/>
                </a:lnTo>
                <a:lnTo>
                  <a:pt x="0" y="48355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softEdge rad="0"/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0602108" y="5515314"/>
            <a:ext cx="6010610" cy="4373715"/>
          </a:xfrm>
          <a:custGeom>
            <a:avLst/>
            <a:gdLst/>
            <a:ahLst/>
            <a:cxnLst/>
            <a:rect l="l" t="t" r="r" b="b"/>
            <a:pathLst>
              <a:path w="6010610" h="4373715">
                <a:moveTo>
                  <a:pt x="0" y="0"/>
                </a:moveTo>
                <a:lnTo>
                  <a:pt x="6010610" y="0"/>
                </a:lnTo>
                <a:lnTo>
                  <a:pt x="6010610" y="4373715"/>
                </a:lnTo>
                <a:lnTo>
                  <a:pt x="0" y="43737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634852" y="853493"/>
            <a:ext cx="6547114" cy="1115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75"/>
              </a:lnSpc>
            </a:pPr>
            <a:r>
              <a:rPr lang="en-US" sz="8392">
                <a:solidFill>
                  <a:srgbClr val="211F1C"/>
                </a:solidFill>
                <a:latin typeface="Anton"/>
                <a:ea typeface="Anton"/>
                <a:cs typeface="Anton"/>
                <a:sym typeface="Anton"/>
              </a:rPr>
              <a:t>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9625" y="2585660"/>
            <a:ext cx="6197568" cy="6970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r>
              <a:rPr lang="en-US" sz="2139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 survey of waste collection workers revealed that 40% reported spending more than 30% of their time driving to bins that are not full.</a:t>
            </a:r>
          </a:p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endParaRPr lang="en-US" sz="2139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r>
              <a:rPr lang="en-US" sz="2139" u="none" strike="noStrike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Approximately 70% of waste collection workers believe that implementing technology like real-time tracking would enhance their efficiency and job satisfaction.</a:t>
            </a:r>
          </a:p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endParaRPr lang="en-US" sz="2139" u="none" strike="noStrike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endParaRPr lang="en-US" sz="2139" u="none" strike="noStrike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>
              <a:lnSpc>
                <a:spcPts val="3145"/>
              </a:lnSpc>
              <a:spcBef>
                <a:spcPct val="0"/>
              </a:spcBef>
            </a:pPr>
            <a:r>
              <a:rPr lang="en-US" sz="2139" u="none" strike="noStrike">
                <a:solidFill>
                  <a:srgbClr val="211F1C"/>
                </a:solidFill>
                <a:latin typeface="Roboto Mono"/>
                <a:ea typeface="Roboto Mono"/>
                <a:cs typeface="Roboto Mono"/>
                <a:sym typeface="Roboto Mono"/>
              </a:rPr>
              <a:t>A study found that 60% of residents have experienced overflowing bins at least once a month, leading to complaints and a perception of poor service.</a:t>
            </a:r>
          </a:p>
          <a:p>
            <a:pPr marL="0" lvl="0" indent="0" algn="l">
              <a:lnSpc>
                <a:spcPts val="2704"/>
              </a:lnSpc>
              <a:spcBef>
                <a:spcPct val="0"/>
              </a:spcBef>
            </a:pPr>
            <a:endParaRPr lang="en-US" sz="2139" u="none" strike="noStrike">
              <a:solidFill>
                <a:srgbClr val="211F1C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E1990B-028A-3577-9D81-4BF09D8103C4}"/>
              </a:ext>
            </a:extLst>
          </p:cNvPr>
          <p:cNvSpPr/>
          <p:nvPr/>
        </p:nvSpPr>
        <p:spPr>
          <a:xfrm>
            <a:off x="13487400" y="163830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704</Words>
  <Application>Microsoft Office PowerPoint</Application>
  <PresentationFormat>Custom</PresentationFormat>
  <Paragraphs>82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Roboto Mono</vt:lpstr>
      <vt:lpstr>Courier Prime</vt:lpstr>
      <vt:lpstr>Arial</vt:lpstr>
      <vt:lpstr>Nunito Sans Expanded Semi-Bold</vt:lpstr>
      <vt:lpstr>Calibri</vt:lpstr>
      <vt:lpstr>Anton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23BAD126 Vijey R S 23BAD088 prithiviraj p s s 23bad116 Sridha Srinivasaraghavan</dc:title>
  <cp:lastModifiedBy>Vijey R S 23BAD126</cp:lastModifiedBy>
  <cp:revision>3</cp:revision>
  <dcterms:created xsi:type="dcterms:W3CDTF">2006-08-16T00:00:00Z</dcterms:created>
  <dcterms:modified xsi:type="dcterms:W3CDTF">2024-09-23T05:39:39Z</dcterms:modified>
  <dc:identifier>DAGRjOET_OQ</dc:identifier>
</cp:coreProperties>
</file>